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47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de Processo Civil (Lei 13.105/2015), art. 903: https://www.planalto.gov.br/ccivil_03/_ato2015-2018/2015/lei/l13105.htm
- Planalto, Lei 9.514/1997, arts. 26 e 27, com alterações relevantes pela Lei 14.711/2023: https://www.planalto.gov.br/ccivil_03/leis/l9514.htm
- Planalto, Lei de Registros Públicos (Lei 6.015/1973), arts. 167, 169, 176 e 221: https://www.planalto.gov.br/ccivil_03/leis/l6015compilada.htm
- Planalto, Lei 14.382/2022, Sistema Eletrônico dos Registros Públicos - SERP: https://www.planalto.gov.br/ccivil_03/_ato2019-2022/2022/lei/l14382.htm
- Receita Federal, Operações sujeitas ao imposto sobre ganho de capital e uso do GCAP: https://www.gov.br/receitafederal/pt-br/assuntos/meu-imposto-de-renda/pagamento/ganhos-de-capital/operacoes-sujeitas-ao-imposto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de Processo Civil (Lei 13.105/2015), art. 903: https://www.planalto.gov.br/ccivil_03/_ato2015-2018/2015/lei/l13105.htm
- Planalto, Lei 9.514/1997, arts. 26 e 27, com alterações relevantes pela Lei 14.711/2023: https://www.planalto.gov.br/ccivil_03/leis/l9514.htm
- Planalto, Código Civil (Lei 10.406/2002), art. 1.345: https://www.planalto.gov.br/ccivil_03/leis/2002/l10406compilada.htm
- Planalto, Código Tributário Nacional (Lei 5.172/1966), art. 130 e parágrafo único: https://www.planalto.gov.br/ccivil_03/leis/l5172compilado.htm
- Receita Federal, Operações sujeitas ao imposto sobre ganho de capital e uso do GCAP: https://www.gov.br/receitafederal/pt-br/assuntos/meu-imposto-de-renda/pagamento/ganhos-de-capital/operacoes-sujeitas-ao-imposto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de Processo Civil (Lei 13.105/2015), art. 903: https://www.planalto.gov.br/ccivil_03/_ato2015-2018/2015/lei/l13105.htm
- Planalto, Lei 9.514/1997, arts. 26 e 27, com alterações relevantes pela Lei 14.711/2023: https://www.planalto.gov.br/ccivil_03/leis/l9514.htm
- Planalto, Lei de Registros Públicos (Lei 6.015/1973), arts. 167, 169, 176 e 221: https://www.planalto.gov.br/ccivil_03/leis/l6015compilada.htm
- Planalto, Lei 14.382/2022, Sistema Eletrônico dos Registros Públicos - SERP: https://www.planalto.gov.br/ccivil_03/_ato2019-2022/2022/lei/l14382.htm
- ONR / RI Digital, serviços eletrônicos de registro de imóveis: https://registradores.onr.org.br/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Lei 9.514/1997, arts. 26 e 27, com alterações relevantes pela Lei 14.711/2023: https://www.planalto.gov.br/ccivil_03/leis/l9514.htm
- Planalto, Código de Processo Civil (Lei 13.105/2015), art. 903: https://www.planalto.gov.br/ccivil_03/_ato2015-2018/2015/lei/l13105.htm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Lei de Registros Públicos (Lei 6.015/1973), arts. 167, 169, 176 e 221: https://www.planalto.gov.br/ccivil_03/leis/l6015compilada.htm
- Planalto, Código Civil (Lei 10.406/2002), art. 1.345: https://www.planalto.gov.br/ccivil_03/leis/2002/l10406compilada.htm
- Planalto, Código Tributário Nacional (Lei 5.172/1966), art. 130 e parágrafo único: https://www.planalto.gov.br/ccivil_03/leis/l5172compilado.htm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Tributário Nacional (Lei 5.172/1966), art. 130 e parágrafo único: https://www.planalto.gov.br/ccivil_03/leis/l5172compilado.htm
- Planalto, Código Civil (Lei 10.406/2002), art. 1.345: https://www.planalto.gov.br/ccivil_03/leis/2002/l10406compilada.htm
- Receita Federal, Operações sujeitas ao imposto sobre ganho de capital e uso do GCAP: https://www.gov.br/receitafederal/pt-br/assuntos/meu-imposto-de-renda/pagamento/ganhos-de-capital/operacoes-sujeitas-ao-imposto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de Processo Civil (Lei 13.105/2015), art. 903: https://www.planalto.gov.br/ccivil_03/_ato2015-2018/2015/lei/l13105.htm
- Planalto, Lei 9.514/1997, arts. 26 e 27, com alterações relevantes pela Lei 14.711/2023: https://www.planalto.gov.br/ccivil_03/leis/l9514.htm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Constituição Federal, art. 156, II: https://www.planalto.gov.br/ccivil_03/constituicao/constituicao.htm
- Planalto, Lei de Registros Públicos (Lei 6.015/1973), arts. 167, 169, 176 e 221: https://www.planalto.gov.br/ccivil_03/leis/l6015compilada.htm
- Planalto, Lei 14.382/2022, Sistema Eletrônico dos Registros Públicos - SERP: https://www.planalto.gov.br/ccivil_03/_ato2019-2022/2022/lei/l14382.htm
- CNJ, Provimento 100/2020, e-Notariado: https://atos.cnj.jus.br/atos/detalhar/3334
- ONR / RI Digital, serviços eletrônicos de registro de imóveis: https://registradores.onr.org.br/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Tributário Nacional (Lei 5.172/1966), art. 130 e parágrafo único: https://www.planalto.gov.br/ccivil_03/leis/l5172compilado.htm
- Planalto, Código Civil (Lei 10.406/2002), art. 1.345: https://www.planalto.gov.br/ccivil_03/leis/2002/l10406compilada.htm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Receita Federal, Operações sujeitas ao imposto sobre ganho de capital e uso do GCAP: https://www.gov.br/receitafederal/pt-br/assuntos/meu-imposto-de-renda/pagamento/ganhos-de-capital/operacoes-sujeitas-ao-imposto
- Planalto, Lei de Registros Públicos (Lei 6.015/1973), arts. 167, 169, 176 e 221: https://www.planalto.gov.br/ccivil_03/leis/l6015compilada.htm
- CNJ, Provimento 100/2020, e-Notariado: https://atos.cnj.jus.br/atos/detalhar/3334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Constituição Federal, art. 156, II: https://www.planalto.gov.br/ccivil_03/constituicao/constituicao.htm
- Planalto, Código Tributário Nacional (Lei 5.172/1966), art. 130 e parágrafo único: https://www.planalto.gov.br/ccivil_03/leis/l5172compilado.htm
- Planalto, Código Civil (Lei 10.406/2002), art. 1.345: https://www.planalto.gov.br/ccivil_03/leis/2002/l10406compilada.htm
- Receita Federal, Operações sujeitas ao imposto sobre ganho de capital e uso do GCAP: https://www.gov.br/receitafederal/pt-br/assuntos/meu-imposto-de-renda/pagamento/ganhos-de-capital/operacoes-sujeitas-ao-imposto
- Planalto, Lei de Registros Públicos (Lei 6.015/1973), arts. 167, 169, 176 e 221: https://www.planalto.gov.br/ccivil_03/leis/l6015compilada.htm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de Processo Civil (Lei 13.105/2015), art. 903: https://www.planalto.gov.br/ccivil_03/_ato2015-2018/2015/lei/l13105.htm
- Planalto, Lei 9.514/1997, arts. 26 e 27, com alterações relevantes pela Lei 14.711/2023: https://www.planalto.gov.br/ccivil_03/leis/l9514.htm
- Planalto, Lei de Registros Públicos (Lei 6.015/1973), arts. 167, 169, 176 e 221: https://www.planalto.gov.br/ccivil_03/leis/l6015compilada.htm
- Planalto, Código Tributário Nacional (Lei 5.172/1966), art. 130 e parágrafo único: https://www.planalto.gov.br/ccivil_03/leis/l5172compilado.htm
- Planalto, Código Civil (Lei 10.406/2002), art. 1.345: https://www.planalto.gov.br/ccivil_03/leis/2002/l10406compilada.htm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de Processo Civil (Lei 13.105/2015), art. 903: https://www.planalto.gov.br/ccivil_03/_ato2015-2018/2015/lei/l13105.htm
- Planalto, Lei 9.514/1997, arts. 26 e 27, com alterações relevantes pela Lei 14.711/2023: https://www.planalto.gov.br/ccivil_03/leis/l9514.htm
- Planalto, Lei de Registros Públicos (Lei 6.015/1973), arts. 167, 169, 176 e 221: https://www.planalto.gov.br/ccivil_03/leis/l6015compilada.htm
- Planalto, Código Civil (Lei 10.406/2002), art. 1.345: https://www.planalto.gov.br/ccivil_03/leis/2002/l10406compilada.htm
- Planalto, Código Tributário Nacional (Lei 5.172/1966), art. 130 e parágrafo único: https://www.planalto.gov.br/ccivil_03/leis/l5172compilado.htm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de Processo Civil (Lei 13.105/2015), art. 903: https://www.planalto.gov.br/ccivil_03/_ato2015-2018/2015/lei/l13105.htm
- Planalto, Lei 9.514/1997, arts. 26 e 27, com alterações relevantes pela Lei 14.711/2023: https://www.planalto.gov.br/ccivil_03/leis/l9514.htm
- Planalto, Lei de Registros Públicos (Lei 6.015/1973), arts. 167, 169, 176 e 221: https://www.planalto.gov.br/ccivil_03/leis/l6015compilada.htm
- Planalto, Lei 14.382/2022, Sistema Eletrônico dos Registros Públicos - SERP: https://www.planalto.gov.br/ccivil_03/_ato2019-2022/2022/lei/l14382.htm
- Receita Federal, Operações sujeitas ao imposto sobre ganho de capital e uso do GCAP: https://www.gov.br/receitafederal/pt-br/assuntos/meu-imposto-de-renda/pagamento/ganhos-de-capital/operacoes-sujeitas-ao-imposto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Lei 14.382/2022, Sistema Eletrônico dos Registros Públicos - SERP: https://www.planalto.gov.br/ccivil_03/_ato2019-2022/2022/lei/l14382.htm
- CNJ, Provimento 100/2020, e-Notariado: https://atos.cnj.jus.br/atos/detalhar/3334
- ONR / RI Digital, serviços eletrônicos de registro de imóveis: https://registradores.onr.org.br/
- Planalto, Lei de Registros Públicos (Lei 6.015/1973), arts. 167, 169, 176 e 221: https://www.planalto.gov.br/ccivil_03/leis/l6015compilada.htm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Planalto, Código de Processo Civil (Lei 13.105/2015), art. 903: https://www.planalto.gov.br/ccivil_03/_ato2015-2018/2015/lei/l13105.htm
- Planalto, Lei 9.514/1997, arts. 26 e 27, com alterações relevantes pela Lei 14.711/2023: https://www.planalto.gov.br/ccivil_03/leis/l9514.htm
- Planalto, Lei de Registros Públicos (Lei 6.015/1973), arts. 167, 169, 176 e 221: https://www.planalto.gov.br/ccivil_03/leis/l6015compilada.htm
- Receita Federal, Operações sujeitas ao imposto sobre ganho de capital e uso do GCAP: https://www.gov.br/receitafederal/pt-br/assuntos/meu-imposto-de-renda/pagamento/ganhos-de-capital/operacoes-sujeitas-ao-imposto
[/Sources]
Observação: conteúdo estruturado como protótipo educacional/operacional; recomenda-se validação jurídica específica por imóvel, edital, matrícula, município, tribunal e administradora condominial.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94360" y="655624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de arrematação de imóvel em leilão • modelo operacional para plataforma digital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372600" y="65562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interno / protótipo Gamma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13232" y="9144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Jornada Segura do Arrematante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6583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Linha do tempo operacional, jurídica e financeira para compra e revenda de imóveis de leilão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2514600"/>
            <a:ext cx="10972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9808" y="2862072"/>
            <a:ext cx="6309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</a:rPr>
              <a:t>Protótipo de plataforma digital para usuários leigos, com status visual por etapa e área reservada para vídeo-aulas.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458200" y="2788920"/>
            <a:ext cx="329184" cy="3291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714232" y="2953512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079992" y="2788920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336024" y="2953512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9701784" y="2788920"/>
            <a:ext cx="329184" cy="32918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9957816" y="2953512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323576" y="2788920"/>
            <a:ext cx="329184" cy="32918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0579608" y="2953512"/>
            <a:ext cx="4389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0945368" y="2788920"/>
            <a:ext cx="329184" cy="32918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366760" y="3401568"/>
            <a:ext cx="2834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5E7EB"/>
                </a:solidFill>
              </a:rPr>
              <a:t>verde = concluída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E5E7EB"/>
                </a:solidFill>
              </a:rPr>
              <a:t>amarelo = pendente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E5E7EB"/>
                </a:solidFill>
              </a:rPr>
              <a:t>vermelho = não executada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51663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</a:rPr>
              <a:t>Gamma-ready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83880" y="55961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storyboard + conteúdo jurídico-operacional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da jornada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plataforma deve orientar o usuário por marcos objetivos, evidências documentais e decisão de risco antes do lance.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800" y="1600200"/>
            <a:ext cx="2331720" cy="3474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453896" y="1874520"/>
            <a:ext cx="749808" cy="74980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645920" y="20756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1832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Antes do lance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triagem, edital, matrícula, certidões e preço-teto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8408" y="4251960"/>
            <a:ext cx="173736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Módulo de abertura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474720" y="1600200"/>
            <a:ext cx="2331720" cy="3474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242816" y="1874520"/>
            <a:ext cx="749808" cy="749808"/>
          </a:xfrm>
          <a:prstGeom prst="ellipse">
            <a:avLst/>
          </a:prstGeom>
          <a:solidFill>
            <a:srgbClr val="8A4F11"/>
          </a:solidFill>
          <a:ln w="12700">
            <a:solidFill>
              <a:srgbClr val="8A4F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434840" y="20756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Durante o leilão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49040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cadastro, habilitação, lance e pagamento tempestivo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67328" y="4251960"/>
            <a:ext cx="173736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Módulo de abertura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263640" y="1600200"/>
            <a:ext cx="2331720" cy="3474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031736" y="1874520"/>
            <a:ext cx="749808" cy="749808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223760" y="20756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19672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Regularização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título, ITBI, registro, IPTU, condomínio e posse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56248" y="4251960"/>
            <a:ext cx="173736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Módulo de abertura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052560" y="1600200"/>
            <a:ext cx="2331720" cy="3474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9820656" y="1874520"/>
            <a:ext cx="749808" cy="749808"/>
          </a:xfrm>
          <a:prstGeom prst="ellipse">
            <a:avLst/>
          </a:prstGeom>
          <a:solidFill>
            <a:srgbClr val="6D597A"/>
          </a:solidFill>
          <a:ln w="12700">
            <a:solidFill>
              <a:srgbClr val="6D59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0012680" y="20756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308592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Saída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26880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revenda, corretagem, escritura, imposto e resultado final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345168" y="4251960"/>
            <a:ext cx="1737360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Módulo de abertura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1143000" y="553212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</a:rPr>
              <a:t>Regra de segurança: nenhuma etapa fica verde sem evidência anexada, data de validação e responsável pela conferência.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Linha do tempo macro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horizontal para navegação do usuário; ao clicar em cada etapa, abre a explicação, checklist e vídeo-aula.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420624" cy="420624"/>
          </a:xfrm>
          <a:prstGeom prst="ellipse">
            <a:avLst/>
          </a:prstGeom>
          <a:solidFill>
            <a:srgbClr val="F9A825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5800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152144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216152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16152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2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1682496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746504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746504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3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2212848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276856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276856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4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743200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807208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807208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5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3273552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337560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337560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6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3803904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867912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867912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7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334256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398264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398264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8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4864608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928616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928616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9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394960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5458968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5458968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10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5925312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989320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989320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11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6455664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519672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519672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12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6986016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7050024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7050024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13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7516368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7580376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7580376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14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8046720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8110728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8110728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15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8577072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8641080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8641080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16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9107424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9171432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9171432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17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9637776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9701784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9701784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18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10168128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10232136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10232136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19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10698480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10762488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10762488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20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11228832" y="2999232"/>
            <a:ext cx="18288" cy="0"/>
          </a:xfrm>
          <a:prstGeom prst="line">
            <a:avLst/>
          </a:prstGeom>
          <a:noFill/>
          <a:ln w="15875">
            <a:solidFill>
              <a:srgbClr val="D9CFB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11292840" y="2788920"/>
            <a:ext cx="420624" cy="420624"/>
          </a:xfrm>
          <a:prstGeom prst="ellipse">
            <a:avLst/>
          </a:prstGeom>
          <a:solidFill>
            <a:srgbClr val="C6282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11292840" y="286207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</a:rPr>
              <a:t>21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640080" y="2057400"/>
            <a:ext cx="1572768" cy="301752"/>
          </a:xfrm>
          <a:prstGeom prst="roundRect">
            <a:avLst>
              <a:gd name="adj" fmla="val 121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731520" y="213055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1. Triagem e edital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231136" y="2057400"/>
            <a:ext cx="1572768" cy="301752"/>
          </a:xfrm>
          <a:prstGeom prst="roundRect">
            <a:avLst>
              <a:gd name="adj" fmla="val 12121"/>
            </a:avLst>
          </a:prstGeom>
          <a:solidFill>
            <a:srgbClr val="304C89"/>
          </a:solidFill>
          <a:ln w="12700">
            <a:solidFill>
              <a:srgbClr val="304C8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2322576" y="213055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2. Due diligence jurídica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822192" y="2057400"/>
            <a:ext cx="1042416" cy="301752"/>
          </a:xfrm>
          <a:prstGeom prst="roundRect">
            <a:avLst>
              <a:gd name="adj" fmla="val 12121"/>
            </a:avLst>
          </a:prstGeom>
          <a:solidFill>
            <a:srgbClr val="7A5C00"/>
          </a:solidFill>
          <a:ln w="12700">
            <a:solidFill>
              <a:srgbClr val="7A5C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3913632" y="2130552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3. Viabilidade econômica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882896" y="2057400"/>
            <a:ext cx="1572768" cy="301752"/>
          </a:xfrm>
          <a:prstGeom prst="roundRect">
            <a:avLst>
              <a:gd name="adj" fmla="val 12121"/>
            </a:avLst>
          </a:prstGeom>
          <a:solidFill>
            <a:srgbClr val="8A4F11"/>
          </a:solidFill>
          <a:ln w="12700">
            <a:solidFill>
              <a:srgbClr val="8A4F1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Text 78"/>
          <p:cNvSpPr/>
          <p:nvPr/>
        </p:nvSpPr>
        <p:spPr>
          <a:xfrm>
            <a:off x="4974336" y="213055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 Lance e arrematação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473952" y="2057400"/>
            <a:ext cx="2103120" cy="301752"/>
          </a:xfrm>
          <a:prstGeom prst="roundRect">
            <a:avLst>
              <a:gd name="adj" fmla="val 12121"/>
            </a:avLst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6565392" y="2130552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5. Título e registro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595360" y="2057400"/>
            <a:ext cx="1572768" cy="301752"/>
          </a:xfrm>
          <a:prstGeom prst="roundRect">
            <a:avLst>
              <a:gd name="adj" fmla="val 12121"/>
            </a:avLst>
          </a:prstGeom>
          <a:solidFill>
            <a:srgbClr val="386641"/>
          </a:solidFill>
          <a:ln w="12700">
            <a:solidFill>
              <a:srgbClr val="3866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Text 82"/>
          <p:cNvSpPr/>
          <p:nvPr/>
        </p:nvSpPr>
        <p:spPr>
          <a:xfrm>
            <a:off x="8686800" y="213055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6. Regularização pós-compra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0186416" y="2057400"/>
            <a:ext cx="1572768" cy="301752"/>
          </a:xfrm>
          <a:prstGeom prst="roundRect">
            <a:avLst>
              <a:gd name="adj" fmla="val 12121"/>
            </a:avLst>
          </a:prstGeom>
          <a:solidFill>
            <a:srgbClr val="6D597A"/>
          </a:solidFill>
          <a:ln w="12700">
            <a:solidFill>
              <a:srgbClr val="6D59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Text 84"/>
          <p:cNvSpPr/>
          <p:nvPr/>
        </p:nvSpPr>
        <p:spPr>
          <a:xfrm>
            <a:off x="10277856" y="2130552"/>
            <a:ext cx="1389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7. Revenda e encerramento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05256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521208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Pesquisa do imóvel</a:t>
            </a:r>
            <a:endParaRPr lang="en-US" sz="580" dirty="0"/>
          </a:p>
        </p:txBody>
      </p:sp>
      <p:sp>
        <p:nvSpPr>
          <p:cNvPr id="89" name="Shape 87"/>
          <p:cNvSpPr/>
          <p:nvPr/>
        </p:nvSpPr>
        <p:spPr>
          <a:xfrm>
            <a:off x="1435608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Text 88"/>
          <p:cNvSpPr/>
          <p:nvPr/>
        </p:nvSpPr>
        <p:spPr>
          <a:xfrm>
            <a:off x="1051560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Coleta do edital</a:t>
            </a:r>
            <a:endParaRPr lang="en-US" sz="580" dirty="0"/>
          </a:p>
        </p:txBody>
      </p:sp>
      <p:sp>
        <p:nvSpPr>
          <p:cNvPr id="91" name="Shape 89"/>
          <p:cNvSpPr/>
          <p:nvPr/>
        </p:nvSpPr>
        <p:spPr>
          <a:xfrm>
            <a:off x="1965960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Text 90"/>
          <p:cNvSpPr/>
          <p:nvPr/>
        </p:nvSpPr>
        <p:spPr>
          <a:xfrm>
            <a:off x="1581912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Análise do edital</a:t>
            </a:r>
            <a:endParaRPr lang="en-US" sz="580" dirty="0"/>
          </a:p>
        </p:txBody>
      </p:sp>
      <p:sp>
        <p:nvSpPr>
          <p:cNvPr id="93" name="Shape 91"/>
          <p:cNvSpPr/>
          <p:nvPr/>
        </p:nvSpPr>
        <p:spPr>
          <a:xfrm>
            <a:off x="2496312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2112264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Matrícula…</a:t>
            </a:r>
            <a:endParaRPr lang="en-US" sz="580" dirty="0"/>
          </a:p>
        </p:txBody>
      </p:sp>
      <p:sp>
        <p:nvSpPr>
          <p:cNvPr id="95" name="Shape 93"/>
          <p:cNvSpPr/>
          <p:nvPr/>
        </p:nvSpPr>
        <p:spPr>
          <a:xfrm>
            <a:off x="3026664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Text 94"/>
          <p:cNvSpPr/>
          <p:nvPr/>
        </p:nvSpPr>
        <p:spPr>
          <a:xfrm>
            <a:off x="2642616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Pesquisa jurídica</a:t>
            </a:r>
            <a:endParaRPr lang="en-US" sz="580" dirty="0"/>
          </a:p>
        </p:txBody>
      </p:sp>
      <p:sp>
        <p:nvSpPr>
          <p:cNvPr id="97" name="Shape 95"/>
          <p:cNvSpPr/>
          <p:nvPr/>
        </p:nvSpPr>
        <p:spPr>
          <a:xfrm>
            <a:off x="3557016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8" name="Text 96"/>
          <p:cNvSpPr/>
          <p:nvPr/>
        </p:nvSpPr>
        <p:spPr>
          <a:xfrm>
            <a:off x="3172968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Posse e ocupação</a:t>
            </a:r>
            <a:endParaRPr lang="en-US" sz="580" dirty="0"/>
          </a:p>
        </p:txBody>
      </p:sp>
      <p:sp>
        <p:nvSpPr>
          <p:cNvPr id="99" name="Shape 97"/>
          <p:cNvSpPr/>
          <p:nvPr/>
        </p:nvSpPr>
        <p:spPr>
          <a:xfrm>
            <a:off x="4087368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3703320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Viabilidade…</a:t>
            </a:r>
            <a:endParaRPr lang="en-US" sz="580" dirty="0"/>
          </a:p>
        </p:txBody>
      </p:sp>
      <p:sp>
        <p:nvSpPr>
          <p:cNvPr id="101" name="Shape 99"/>
          <p:cNvSpPr/>
          <p:nvPr/>
        </p:nvSpPr>
        <p:spPr>
          <a:xfrm>
            <a:off x="4617720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2" name="Text 100"/>
          <p:cNvSpPr/>
          <p:nvPr/>
        </p:nvSpPr>
        <p:spPr>
          <a:xfrm>
            <a:off x="4233672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Parecer por IA</a:t>
            </a:r>
            <a:endParaRPr lang="en-US" sz="580" dirty="0"/>
          </a:p>
        </p:txBody>
      </p:sp>
      <p:sp>
        <p:nvSpPr>
          <p:cNvPr id="103" name="Shape 101"/>
          <p:cNvSpPr/>
          <p:nvPr/>
        </p:nvSpPr>
        <p:spPr>
          <a:xfrm>
            <a:off x="5148072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4" name="Text 102"/>
          <p:cNvSpPr/>
          <p:nvPr/>
        </p:nvSpPr>
        <p:spPr>
          <a:xfrm>
            <a:off x="4764024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Cadastro e…</a:t>
            </a:r>
            <a:endParaRPr lang="en-US" sz="580" dirty="0"/>
          </a:p>
        </p:txBody>
      </p:sp>
      <p:sp>
        <p:nvSpPr>
          <p:cNvPr id="105" name="Shape 103"/>
          <p:cNvSpPr/>
          <p:nvPr/>
        </p:nvSpPr>
        <p:spPr>
          <a:xfrm>
            <a:off x="5678424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Text 104"/>
          <p:cNvSpPr/>
          <p:nvPr/>
        </p:nvSpPr>
        <p:spPr>
          <a:xfrm>
            <a:off x="5294376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Arrematação</a:t>
            </a:r>
            <a:endParaRPr lang="en-US" sz="580" dirty="0"/>
          </a:p>
        </p:txBody>
      </p:sp>
      <p:sp>
        <p:nvSpPr>
          <p:cNvPr id="107" name="Shape 105"/>
          <p:cNvSpPr/>
          <p:nvPr/>
        </p:nvSpPr>
        <p:spPr>
          <a:xfrm>
            <a:off x="6208776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8" name="Text 106"/>
          <p:cNvSpPr/>
          <p:nvPr/>
        </p:nvSpPr>
        <p:spPr>
          <a:xfrm>
            <a:off x="5824728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Pagamento</a:t>
            </a:r>
            <a:endParaRPr lang="en-US" sz="580" dirty="0"/>
          </a:p>
        </p:txBody>
      </p:sp>
      <p:sp>
        <p:nvSpPr>
          <p:cNvPr id="109" name="Shape 107"/>
          <p:cNvSpPr/>
          <p:nvPr/>
        </p:nvSpPr>
        <p:spPr>
          <a:xfrm>
            <a:off x="6739128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0" name="Text 108"/>
          <p:cNvSpPr/>
          <p:nvPr/>
        </p:nvSpPr>
        <p:spPr>
          <a:xfrm>
            <a:off x="6355080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Título aquisitivo</a:t>
            </a:r>
            <a:endParaRPr lang="en-US" sz="580" dirty="0"/>
          </a:p>
        </p:txBody>
      </p:sp>
      <p:sp>
        <p:nvSpPr>
          <p:cNvPr id="111" name="Shape 109"/>
          <p:cNvSpPr/>
          <p:nvPr/>
        </p:nvSpPr>
        <p:spPr>
          <a:xfrm>
            <a:off x="7269480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2" name="Text 110"/>
          <p:cNvSpPr/>
          <p:nvPr/>
        </p:nvSpPr>
        <p:spPr>
          <a:xfrm>
            <a:off x="6885432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ITBI</a:t>
            </a:r>
            <a:endParaRPr lang="en-US" sz="580" dirty="0"/>
          </a:p>
        </p:txBody>
      </p:sp>
      <p:sp>
        <p:nvSpPr>
          <p:cNvPr id="113" name="Shape 111"/>
          <p:cNvSpPr/>
          <p:nvPr/>
        </p:nvSpPr>
        <p:spPr>
          <a:xfrm>
            <a:off x="7799832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4" name="Text 112"/>
          <p:cNvSpPr/>
          <p:nvPr/>
        </p:nvSpPr>
        <p:spPr>
          <a:xfrm>
            <a:off x="7415784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Registro online</a:t>
            </a:r>
            <a:endParaRPr lang="en-US" sz="580" dirty="0"/>
          </a:p>
        </p:txBody>
      </p:sp>
      <p:sp>
        <p:nvSpPr>
          <p:cNvPr id="115" name="Shape 113"/>
          <p:cNvSpPr/>
          <p:nvPr/>
        </p:nvSpPr>
        <p:spPr>
          <a:xfrm>
            <a:off x="8330184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6" name="Text 114"/>
          <p:cNvSpPr/>
          <p:nvPr/>
        </p:nvSpPr>
        <p:spPr>
          <a:xfrm>
            <a:off x="7946136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Matrícula…</a:t>
            </a:r>
            <a:endParaRPr lang="en-US" sz="580" dirty="0"/>
          </a:p>
        </p:txBody>
      </p:sp>
      <p:sp>
        <p:nvSpPr>
          <p:cNvPr id="117" name="Shape 115"/>
          <p:cNvSpPr/>
          <p:nvPr/>
        </p:nvSpPr>
        <p:spPr>
          <a:xfrm>
            <a:off x="8860536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8" name="Text 116"/>
          <p:cNvSpPr/>
          <p:nvPr/>
        </p:nvSpPr>
        <p:spPr>
          <a:xfrm>
            <a:off x="8476488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IPTU e…</a:t>
            </a:r>
            <a:endParaRPr lang="en-US" sz="580" dirty="0"/>
          </a:p>
        </p:txBody>
      </p:sp>
      <p:sp>
        <p:nvSpPr>
          <p:cNvPr id="119" name="Shape 117"/>
          <p:cNvSpPr/>
          <p:nvPr/>
        </p:nvSpPr>
        <p:spPr>
          <a:xfrm>
            <a:off x="9390888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0" name="Text 118"/>
          <p:cNvSpPr/>
          <p:nvPr/>
        </p:nvSpPr>
        <p:spPr>
          <a:xfrm>
            <a:off x="9006840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Condomínio</a:t>
            </a:r>
            <a:endParaRPr lang="en-US" sz="580" dirty="0"/>
          </a:p>
        </p:txBody>
      </p:sp>
      <p:sp>
        <p:nvSpPr>
          <p:cNvPr id="121" name="Shape 119"/>
          <p:cNvSpPr/>
          <p:nvPr/>
        </p:nvSpPr>
        <p:spPr>
          <a:xfrm>
            <a:off x="9921240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2" name="Text 120"/>
          <p:cNvSpPr/>
          <p:nvPr/>
        </p:nvSpPr>
        <p:spPr>
          <a:xfrm>
            <a:off x="9537192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Posse, vistoria…</a:t>
            </a:r>
            <a:endParaRPr lang="en-US" sz="580" dirty="0"/>
          </a:p>
        </p:txBody>
      </p:sp>
      <p:sp>
        <p:nvSpPr>
          <p:cNvPr id="123" name="Shape 121"/>
          <p:cNvSpPr/>
          <p:nvPr/>
        </p:nvSpPr>
        <p:spPr>
          <a:xfrm>
            <a:off x="10451592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4" name="Text 122"/>
          <p:cNvSpPr/>
          <p:nvPr/>
        </p:nvSpPr>
        <p:spPr>
          <a:xfrm>
            <a:off x="10067544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Revenda com…</a:t>
            </a:r>
            <a:endParaRPr lang="en-US" sz="580" dirty="0"/>
          </a:p>
        </p:txBody>
      </p:sp>
      <p:sp>
        <p:nvSpPr>
          <p:cNvPr id="125" name="Shape 123"/>
          <p:cNvSpPr/>
          <p:nvPr/>
        </p:nvSpPr>
        <p:spPr>
          <a:xfrm>
            <a:off x="10981944" y="3227832"/>
            <a:ext cx="0" cy="704088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6" name="Text 124"/>
          <p:cNvSpPr/>
          <p:nvPr/>
        </p:nvSpPr>
        <p:spPr>
          <a:xfrm>
            <a:off x="10597896" y="3959352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Ganho de capital</a:t>
            </a:r>
            <a:endParaRPr lang="en-US" sz="580" dirty="0"/>
          </a:p>
        </p:txBody>
      </p:sp>
      <p:sp>
        <p:nvSpPr>
          <p:cNvPr id="127" name="Shape 125"/>
          <p:cNvSpPr/>
          <p:nvPr/>
        </p:nvSpPr>
        <p:spPr>
          <a:xfrm>
            <a:off x="11512296" y="3227832"/>
            <a:ext cx="0" cy="128016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8" name="Text 126"/>
          <p:cNvSpPr/>
          <p:nvPr/>
        </p:nvSpPr>
        <p:spPr>
          <a:xfrm>
            <a:off x="11128248" y="3383280"/>
            <a:ext cx="74980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334155"/>
                </a:solidFill>
              </a:rPr>
              <a:t>Fechamento final</a:t>
            </a:r>
            <a:endParaRPr lang="en-US" sz="580" dirty="0"/>
          </a:p>
        </p:txBody>
      </p:sp>
      <p:sp>
        <p:nvSpPr>
          <p:cNvPr id="129" name="Shape 127"/>
          <p:cNvSpPr/>
          <p:nvPr/>
        </p:nvSpPr>
        <p:spPr>
          <a:xfrm>
            <a:off x="822960" y="5074920"/>
            <a:ext cx="10469880" cy="603504"/>
          </a:xfrm>
          <a:prstGeom prst="roundRect">
            <a:avLst>
              <a:gd name="adj" fmla="val 10606"/>
            </a:avLst>
          </a:prstGeom>
          <a:solidFill>
            <a:srgbClr val="E7EEF7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0" name="Text 128"/>
          <p:cNvSpPr/>
          <p:nvPr/>
        </p:nvSpPr>
        <p:spPr>
          <a:xfrm>
            <a:off x="960120" y="5239512"/>
            <a:ext cx="1019556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0D1B2A"/>
                </a:solidFill>
              </a:rPr>
              <a:t>Critério de avanço: cada bolinha muda de cor apenas quando o usuário anexar evidência mínima — edital, matrícula, guias, comprovantes, certidões, fotos, protocolos ou declarações.</a:t>
            </a:r>
            <a:endParaRPr lang="en-US" sz="1080" dirty="0"/>
          </a:p>
        </p:txBody>
      </p:sp>
      <p:sp>
        <p:nvSpPr>
          <p:cNvPr id="1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1 a 3: pesquisa e edital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impedir que o usuário faça lance antes de compreender o ativo, o edital e as regras econômicas mínimas.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04088" y="1700784"/>
            <a:ext cx="347472" cy="34747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🔎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Pesquisa do imóvel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22376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cidade, tipo, valor de avaliação, desconto, ocupação, liquidez, documentação disponível e objetivo: revenda, locação ou uso próprio.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722376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83864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593592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39312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8424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14216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Coleta do edital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611880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Baixar edital, anexos, laudo, fotos, matrícula, regras da plataforma, comissão, prazo de pagamento e responsabilidade por débitos.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11880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373368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83096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28816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7928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 do edital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501384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modalidade judicial/extrajudicial, preço mínimo, comissão, caução, prazo, débitos assumidos, ocupação, riscos de cancelamento e penalidades.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501384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4 a 6: matrícula, certidões e posse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identificar vícios registrais, litígios, débitos e risco de desocupação antes da formação do preço-teto.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04088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🏛️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04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Matrícula atualizada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22376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certidão de inteiro teor atualizada e conferir titularidade, ônus, penhoras, hipotecas, alienação fiduciária, indisponibilidades e averbações.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722376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83864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593592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39312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⚖️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8424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14216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Pesquisa jurídica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611880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processos, ações reais/reipersecutórias, execução, embargos, recursos, indisponibilidades, protestos e certidões dos envolvidos.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11880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373368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83096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28816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🏘️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7928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Posse e ocupação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501384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se o imóvel está ocupado, locado, invadido, abandonado ou com resistência provável; estimar custo de acordo, imissão e desocupação.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501384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7 e 8: viabilidade e IA jurídica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transformar documentos em decisão operacional, com teto de lance e parecer de risco documentado.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04088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07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Viabilidade financeira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22376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Montar preço-teto somando lance, comissão, ITBI, cartório, débitos, condomínio, reforma, posse, corretagem, tributos e margem mínima.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722376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83864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593592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39312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8424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14216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Parecer por IA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611880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Rodar prompt jurídico-financeiro com edital, matrícula e certidões; exigir conclusão objetiva: comprar, comprar com ressalvas ou não comprar.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11880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9 a 11: habilitação, lance e pagamento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assegurar execução tempestiva e controle de comprovantes após o lance vencedor.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04088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09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Cadastro e habilitação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22376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conta na plataforma, validar documentos, assinar termos, cadastrar meio de pagamento e acompanhar agenda do leilão.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722376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83864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593592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39312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8424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14216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Arrematação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611880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lance dentro do preço-teto, registrar evidências da sessão, acompanhar auto/ata e cumprir integralmente prazos de pagamento.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11880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373368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83096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28816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7928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Pagamento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501384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Pagar preço, comissão do leiloeiro, guias, custas e demais encargos conforme edital, guardando comprovantes nominalizados.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501384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12 a 15: título, ITBI e registro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converter a arrematação em propriedade registral efetiva, com acompanhamento de exigências cartorárias.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04088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🖋️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Título aquisitivo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22376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Obter carta de arrematação, escritura, contrato ou termo aplicável; conferir qualificação, descrição do imóvel e quitação do preço.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722376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83864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593592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39312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🏷️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8424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14216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ITBI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611880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Emitir guia municipal quando exigida, validar base de cálculo, prazo, isenção/imunidade se houver e comprovante para registro.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11880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373368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83096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28816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7928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Registro online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501384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Protocolar o título no Registro de Imóveis via serviço eletrônico, responder exigências e acompanhar prenotação até registro.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501384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262872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9372600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418320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57432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15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793224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Matrícula efetivada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9390888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Obter matrícula atualizada em nome do arrematante, conferir baixa/cancelamento de ônus e corrigir eventuais exigências residuais.</a:t>
            </a:r>
            <a:endParaRPr lang="en-US" sz="810" dirty="0"/>
          </a:p>
        </p:txBody>
      </p:sp>
      <p:sp>
        <p:nvSpPr>
          <p:cNvPr id="38" name="Text 36"/>
          <p:cNvSpPr/>
          <p:nvPr/>
        </p:nvSpPr>
        <p:spPr>
          <a:xfrm>
            <a:off x="9390888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16 a 18: pós-compra e regularização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limpar passivos operacionais e preparar o imóvel para uso, locação ou revenda.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04088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🏙️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IPTU e contribuinte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22376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Levantar débitos, negociar se necessário, pagar o que for assumido e alterar cadastro municipal do contribuinte/proprietário.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722376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83864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593592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39312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8424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17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14216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Condomínio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611880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extrato à administradora, negociar débitos, atualizar cadastro do proprietário, obter declaração de quitação e boletos futuros.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11880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373368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83096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28816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7928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18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Posse, vistoria e reforma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501384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Planejar entrega das chaves, acordo ou medida judicial, vistoriar, religar serviços, limpar, reparar e preparar para comercialização.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501384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19 a 21: revenda e encerramento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formalizar a saída, controlar corretagem, recolher tributos de ganho de capital e fechar o dossiê.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26680" y="102412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2784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Concluída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235440" y="1024128"/>
            <a:ext cx="146304" cy="14630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43660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 / em análise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744200" y="102412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945368" y="10195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executada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04088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19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Revenda com corretores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22376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preço de saída, margem, contrato de corretagem, comissão pactuada, estratégia de anúncios, visitas e gestão de propostas.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722376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483864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593592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639312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78424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20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14216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Ganho de capital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3611880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Apurar ganho no GCAP, recolher imposto quando devido, guardar documentos de custo de aquisição, benfeitorias e venda.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3611880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373368" y="1572768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83096" y="1700784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28816" y="17602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7928" y="172821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</a:rPr>
              <a:t>21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03720" y="1682496"/>
            <a:ext cx="1371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Fechamento final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501384" y="2139696"/>
            <a:ext cx="2350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Assinar venda, receber valores, registrar transferência ao comprador, arquivar dossiê, calcular resultado final e encerrar operação.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501384" y="4709160"/>
            <a:ext cx="2350008" cy="56692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Vídeo-aula desta etapa</a:t>
            </a:r>
            <a:endParaRPr lang="en-US" sz="8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despesas: preço real da operação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plataforma deve calcular o preço-teto com todos os custos previsíveis antes do lance.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2587752" cy="425196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67512" y="181051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Aquisição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Lance / preço de venda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731520" y="2898648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Comissão do leiloeiro — conforme edital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731520" y="3374136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3310128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Caução, sinal ou depósito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31520" y="3849624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3785616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Taxa de plataforma, se houver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31520" y="4325112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14400" y="4261104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Custas judiciais ou administrativas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3419856" y="1600200"/>
            <a:ext cx="2587752" cy="425196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557016" y="181051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Cartório e tributos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21024" y="2423160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803904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ITBI municipal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3621024" y="2898648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803904" y="2834640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Escritura, contrato ou carta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3621024" y="3374136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803904" y="3310128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Registro / averbações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3621024" y="3849624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803904" y="3785616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Certidões e matrícula atualizada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621024" y="4325112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803904" y="4261104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Laudêmio/foro, se aplicável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309360" y="1600200"/>
            <a:ext cx="2587752" cy="425196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46520" y="181051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Passivos do imóvel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10528" y="2423160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693408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IPTU, taxas e dívida ativa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510528" y="2898648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6693408" y="2834640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Condomínio, multa e juros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510528" y="3374136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693408" y="3310128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Água, luz, gás e religação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510528" y="3849624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693408" y="3785616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Desocupação / imissão na posse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6510528" y="4325112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693408" y="4261104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Honorários e custas de cobrança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9198864" y="1600200"/>
            <a:ext cx="2587752" cy="425196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9336024" y="181051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Saída / revenda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400032" y="2423160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9582912" y="2359152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Limpeza, reforma e laudos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9400032" y="2898648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582912" y="2834640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Fotos, anúncios e portais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9400032" y="3374136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9582912" y="3310128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Corretagem pactuada em contrato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9400032" y="3849624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9582912" y="3785616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IR sobre ganho de capital — GCAP</a:t>
            </a:r>
            <a:endParaRPr lang="en-US" sz="970" dirty="0"/>
          </a:p>
        </p:txBody>
      </p:sp>
      <p:sp>
        <p:nvSpPr>
          <p:cNvPr id="51" name="Shape 49"/>
          <p:cNvSpPr/>
          <p:nvPr/>
        </p:nvSpPr>
        <p:spPr>
          <a:xfrm>
            <a:off x="9400032" y="4325112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9582912" y="4261104"/>
            <a:ext cx="1975104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334155"/>
                </a:solidFill>
              </a:rPr>
              <a:t>Contabilidade e dossiê final</a:t>
            </a:r>
            <a:endParaRPr lang="en-US" sz="970" dirty="0"/>
          </a:p>
        </p:txBody>
      </p:sp>
      <p:sp>
        <p:nvSpPr>
          <p:cNvPr id="53" name="Text 51"/>
          <p:cNvSpPr/>
          <p:nvPr/>
        </p:nvSpPr>
        <p:spPr>
          <a:xfrm>
            <a:off x="685800" y="6053328"/>
            <a:ext cx="10698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</a:rPr>
              <a:t>Observação: comissão de corretagem na revenda deve ser pactuada expressamente; percentuais usuais variam conforme praça, contrato, tipo de imóvel e tabela orientativa local.</a:t>
            </a:r>
            <a:endParaRPr lang="en-US" sz="102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jurídico para análise pela 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que deve existir dentro da plataforma para gerar um parecer preliminar padronizado antes do lance.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50392" y="18470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</a:rPr>
              <a:t>Contexto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1832" y="2423160"/>
            <a:ext cx="274320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</a:rPr>
              <a:t>Atue como advogado sênior em Direito Imobiliário, Registral, Leilões Judiciais e Extrajudiciais, alienação fiduciária, execução e tributação imobiliária. Analise apenas com base nos documentos fornecidos; não presuma fatos.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1325880" y="4572000"/>
            <a:ext cx="1965960" cy="4114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Como usar este prompt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53712" y="18470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</a:rPr>
              <a:t>Documentos de entrada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423160"/>
            <a:ext cx="274320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</a:rPr>
              <a:t>Edital completo, matrícula atualizada, laudo/fotos, certidões fiscais, débitos de condomínio, pesquisa processual, dados da plataforma, informações de ocupação e orçamento financeiro.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5029200" y="4572000"/>
            <a:ext cx="1965960" cy="4114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Como usar este prompt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57032" y="18470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</a:rPr>
              <a:t>Perguntas obrigatórias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48472" y="2423160"/>
            <a:ext cx="274320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</a:rPr>
              <a:t>1) Qual é a modalidade? 2) O edital transfere débitos? 3) Há ônus impeditivo? 4) Há risco de anulação? 5) Há risco possessório? 6) Qual preço-teto seguro?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8732520" y="4572000"/>
            <a:ext cx="1965960" cy="41148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 Como usar este prompt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0332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1B2A"/>
                </a:solidFill>
              </a:rPr>
              <a:t>Saída obrigatória da IA: matriz de risco, checklist de pendências, documentos faltantes, preço-teto sugerido e decisão: comprar / comprar com ressalvas / não comprar.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parecer: decisão de risco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IA deve orientar, mas a decisão final deve depender de validação humana e documentos primários.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947672" y="196596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97280" y="2852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</a:rPr>
              <a:t>Baixo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334155"/>
                </a:solidFill>
              </a:rPr>
              <a:t>Documentação coerente, edital claro, matrícula sem entraves impeditivos, débitos mapeados, posse gerenciável e margem financeira preservada.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1097280" y="4736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D1B2A"/>
                </a:solidFill>
              </a:rPr>
              <a:t>Comprar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50992" y="1965960"/>
            <a:ext cx="685800" cy="6858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00600" y="2852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825"/>
                </a:solidFill>
              </a:rPr>
              <a:t>Moderado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73168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334155"/>
                </a:solidFill>
              </a:rPr>
              <a:t>Há pendências sanáveis: exigências cartorárias prováveis, débitos negociáveis, imóvel ocupado, certidões pendentes ou incerteza de prazo.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4800600" y="4736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D1B2A"/>
                </a:solidFill>
              </a:rPr>
              <a:t>Comprar com ressalvas / travas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183880" y="169164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354312" y="1965960"/>
            <a:ext cx="685800" cy="6858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503920" y="2852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</a:rPr>
              <a:t>Alto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76488" y="3429000"/>
            <a:ext cx="24688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334155"/>
                </a:solidFill>
              </a:rPr>
              <a:t>Risco de anulação, vício de intimação, litígio relevante, matrícula inconsistente, indisponibilidade, passivo oculto ou desocupação imprevisível.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8503920" y="4736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D1B2A"/>
                </a:solidFill>
              </a:rPr>
              <a:t>Não comprar sem saneamento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143000" y="5623560"/>
            <a:ext cx="987552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25880" y="5751576"/>
            <a:ext cx="9509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A3412"/>
                </a:solidFill>
              </a:rPr>
              <a:t>Trava de compliance: risco alto bloqueia botão de lance até revisão jurídica ou justificativa formal do usuário.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para gerar no Gamma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Texto-base para transformar este storyboard em uma apresentação navegável ou protótipo de produto.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103327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34440" y="1901952"/>
            <a:ext cx="969264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334155"/>
                </a:solidFill>
              </a:rPr>
              <a:t>Crie uma apresentação/protótipo de plataforma chamada “Jornada Segura do Arrematante”. O layout principal deve ser uma linha do tempo horizontal com 21 etapas. Cada etapa terá: bolinha de status verde/amarela/vermelha, ícone, título, explicação simples, checklist de evidências e janela de vídeo-aula YouTube. Use linguagem clara para leigos, mas com cautela jurídica. Organize por fases: triagem, due diligence, viabilidade, arrematação, registro, regularização e revenda. Inclua matriz de despesas, prompt de análise por IA, matriz de risco e tela final de resultado financeiro.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2103120" y="525780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331720" y="5404104"/>
            <a:ext cx="7589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Recomendação visual: poucos textos por cartão, status muito visível, e cada vídeo como bloco fixo abaixo da explicação.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dados para implantação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mínimos para transformar a linha do tempo em plataforma digital auditável.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96012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7647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D1B2A"/>
                </a:solidFill>
              </a:rPr>
              <a:t>Dados do imóvel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41832" y="2148840"/>
            <a:ext cx="2743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nº do leilão, plataforma, matrícula, cartório, endereço, tipo, ocupação, avaliação, lance mínimo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0" y="17647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D1B2A"/>
                </a:solidFill>
              </a:rPr>
              <a:t>Documentos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45152" y="2148840"/>
            <a:ext cx="2743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edital, anexos, matrícula, certidões, IPTU, condomínio, laudo, fotos, comprovantes e protocolos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92440" y="160020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75320" y="17647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D1B2A"/>
                </a:solidFill>
              </a:rPr>
              <a:t>Status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48472" y="2148840"/>
            <a:ext cx="2743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não executada, pendente, concluída, bloqueada, data de conclusão, responsável, evidência anexada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52044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8680" y="3685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D1B2A"/>
                </a:solidFill>
              </a:rPr>
              <a:t>Financeiro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41832" y="4069080"/>
            <a:ext cx="2743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preço-teto, lance, comissão, ITBI, cartório, débitos, reforma, corretagem, imposto e margem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352044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0" y="3685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D1B2A"/>
                </a:solidFill>
              </a:rPr>
              <a:t>Jurídico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45152" y="4069080"/>
            <a:ext cx="2743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risco registral, fiscal, condominial, possessório, processual, documental, compliance e decisão final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92440" y="3520440"/>
            <a:ext cx="32461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275320" y="36850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D1B2A"/>
                </a:solidFill>
              </a:rPr>
              <a:t>Revenda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48472" y="4069080"/>
            <a:ext cx="2743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corretores, proposta, contrato, escritura, registro, GCAP, lucro líquido e dossiê encerrado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0120" y="5715000"/>
            <a:ext cx="102412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1B2A"/>
                </a:solidFill>
              </a:rPr>
              <a:t>Trilha de auditoria sugerida: upload → validação → comentário → status → data → responsável → bloqueio/liberação da próxima etapa.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Resultado esperado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86384" y="1572768"/>
            <a:ext cx="10972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" y="1920240"/>
            <a:ext cx="58521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Uma plataforma que transforma leilão imobiliário em jornada guiada, auditável e juridicamente prudente.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292608" cy="29260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41832" y="3127248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3044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Decisão antes do lance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3081528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o usuário só participa após edital, matrícula, certidões e preço-teto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292608" cy="29260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41832" y="3858768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2588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Controle pós-arrematação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813048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pagamentos, título, ITBI, registro, IPTU, condomínio e posse em trilha única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526280"/>
            <a:ext cx="292608" cy="29260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41832" y="4590288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25880" y="4507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Saída econômica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4544568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revenda, corretagem, ganho de capital e resultado líquido documentados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325880"/>
            <a:ext cx="3017520" cy="4297680"/>
          </a:xfrm>
          <a:prstGeom prst="roundRect">
            <a:avLst>
              <a:gd name="adj" fmla="val 2424"/>
            </a:avLst>
          </a:prstGeom>
          <a:solidFill>
            <a:srgbClr val="172A46"/>
          </a:solidFill>
          <a:ln w="12700">
            <a:solidFill>
              <a:srgbClr val="2B3A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613648" y="1764792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723376" y="2039112"/>
            <a:ext cx="0" cy="219456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006840" y="1792224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Triagem e edital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613648" y="2258568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723376" y="2532888"/>
            <a:ext cx="0" cy="219456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006840" y="228600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Due diligence jurídica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613648" y="2752344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8723376" y="3026664"/>
            <a:ext cx="0" cy="219456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006840" y="277977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Viabilidade econômica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613648" y="3246120"/>
            <a:ext cx="219456" cy="219456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8723376" y="3520440"/>
            <a:ext cx="0" cy="219456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9006840" y="327355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Lance e arrematação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8613648" y="3739896"/>
            <a:ext cx="219456" cy="21945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8723376" y="4014216"/>
            <a:ext cx="0" cy="219456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006840" y="3767328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Título e registro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613648" y="4233672"/>
            <a:ext cx="219456" cy="21945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8723376" y="4507992"/>
            <a:ext cx="0" cy="219456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006840" y="4261104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Regularização pós-compra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613648" y="4727448"/>
            <a:ext cx="219456" cy="21945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9006840" y="4754880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Revenda e encerramento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8641080" y="5212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</a:rPr>
              <a:t>Status por fase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b50cfc-ae79-4087-a6e6-902529ede8a2">
      <Terms xmlns="http://schemas.microsoft.com/office/infopath/2007/PartnerControls"/>
    </lcf76f155ced4ddcb4097134ff3c332f>
    <TaxCatchAll xmlns="30caf596-f3f1-4f89-be63-4a90bb2c236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B77E288B7D2E449AE811FB2DC8F6D5F" ma:contentTypeVersion="11" ma:contentTypeDescription="Crie um novo documento." ma:contentTypeScope="" ma:versionID="7a33a57205732df0e1c1e74b9d4b483b">
  <xsd:schema xmlns:xsd="http://www.w3.org/2001/XMLSchema" xmlns:xs="http://www.w3.org/2001/XMLSchema" xmlns:p="http://schemas.microsoft.com/office/2006/metadata/properties" xmlns:ns2="cab50cfc-ae79-4087-a6e6-902529ede8a2" xmlns:ns3="30caf596-f3f1-4f89-be63-4a90bb2c2366" targetNamespace="http://schemas.microsoft.com/office/2006/metadata/properties" ma:root="true" ma:fieldsID="ae1f3f95249ebda9316f44f897bf5254" ns2:_="" ns3:_="">
    <xsd:import namespace="cab50cfc-ae79-4087-a6e6-902529ede8a2"/>
    <xsd:import namespace="30caf596-f3f1-4f89-be63-4a90bb2c23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b50cfc-ae79-4087-a6e6-902529ede8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3cae915f-eeb9-43e2-b9ed-c7927ee112e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caf596-f3f1-4f89-be63-4a90bb2c2366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ca28a68a-5458-4480-87c4-c50593166629}" ma:internalName="TaxCatchAll" ma:showField="CatchAllData" ma:web="30caf596-f3f1-4f89-be63-4a90bb2c23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326A83-99F0-40C3-A6AA-4B2B655EAC07}">
  <ds:schemaRefs>
    <ds:schemaRef ds:uri="http://schemas.microsoft.com/office/2006/metadata/properties"/>
    <ds:schemaRef ds:uri="http://schemas.microsoft.com/office/infopath/2007/PartnerControls"/>
    <ds:schemaRef ds:uri="cab50cfc-ae79-4087-a6e6-902529ede8a2"/>
    <ds:schemaRef ds:uri="30caf596-f3f1-4f89-be63-4a90bb2c2366"/>
  </ds:schemaRefs>
</ds:datastoreItem>
</file>

<file path=customXml/itemProps2.xml><?xml version="1.0" encoding="utf-8"?>
<ds:datastoreItem xmlns:ds="http://schemas.openxmlformats.org/officeDocument/2006/customXml" ds:itemID="{4C407C57-81D2-4A8F-ADBE-F7BBF7347D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896763-BEFF-4CB3-A7EA-703FEC5F02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b50cfc-ae79-4087-a6e6-902529ede8a2"/>
    <ds:schemaRef ds:uri="30caf596-f3f1-4f89-be63-4a90bb2c23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5025</Words>
  <Application>Microsoft Office PowerPoint</Application>
  <PresentationFormat>Widescreen</PresentationFormat>
  <Paragraphs>362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MarBrasil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Gamma - Jornada Segura do Arrematante</dc:title>
  <dc:subject>Linha do tempo operacional e jurídica para arrematação de imóvel em leilão</dc:subject>
  <dc:creator>OpenAI</dc:creator>
  <cp:lastModifiedBy>Marcos Paula</cp:lastModifiedBy>
  <cp:revision>1</cp:revision>
  <dcterms:created xsi:type="dcterms:W3CDTF">2026-08-26T20:06:40Z</dcterms:created>
  <dcterms:modified xsi:type="dcterms:W3CDTF">2026-08-31T13:58:52Z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0x010100AB77E288B7D2E449AE811FB2DC8F6D5F</vt:lpwstr>
  </property>
</Properties>
</file>